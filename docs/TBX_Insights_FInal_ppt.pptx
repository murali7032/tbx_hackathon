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ECCE6"/>
                </a:solidFill>
                <a:latin typeface="Aptos"/>
              </a:rPr>
              <a:t>TBX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Aptos"/>
              </a:rPr>
              <a:t>TBX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486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A finance assistant built for
trustworthy, explainable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4436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9CFDE"/>
                </a:solidFill>
                <a:latin typeface="Aptos"/>
              </a:rPr>
              <a:t>Ask in plain language. Query the ledger. Show the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6364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BA6B9"/>
                </a:solidFill>
                <a:latin typeface="Aptos"/>
              </a:rPr>
              <a:t>TBX Finance · BVP Tech Catalyst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From finance question to verified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The product combines natural-language interaction with database-grounded computation.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" y="20391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4825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29967"/>
            <a:ext cx="244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Ask naturally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77439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Finance users can ask questions about banks, accounts, balances and transactions without navigating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73552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8952" y="3438144"/>
            <a:ext cx="438912" cy="438912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447288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429000"/>
            <a:ext cx="244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Compute where the data lives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776472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SQL performs filtering, joins, MoM calculations and anomaly logic; the model explains the returned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72584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4837176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846320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828032"/>
            <a:ext cx="2441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Verify before you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5175504"/>
            <a:ext cx="26517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Answers can expose evidence and SQL, while missing or ambiguous data is surfaced rather than guessed.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874519"/>
            <a:ext cx="7360920" cy="4032504"/>
          </a:xfrm>
          <a:prstGeom prst="roundRect">
            <a:avLst>
              <a:gd name="adj" fmla="val 12000"/>
            </a:avLst>
          </a:prstGeom>
          <a:solidFill>
            <a:srgbClr val="081E34"/>
          </a:solidFill>
          <a:ln>
            <a:solidFill>
              <a:srgbClr val="08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21284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ECCE6"/>
                </a:solidFill>
                <a:latin typeface="Aptos"/>
              </a:rPr>
              <a:t>THE CORE 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606040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The model is the translator.
The database is the calculator.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58768"/>
            <a:ext cx="6080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BD1DF"/>
                </a:solidFill>
                <a:latin typeface="Aptos"/>
              </a:rPr>
              <a:t>A deliberately thin language layer sits on top of strong tools and hard guardrails.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736592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9465C"/>
          </a:solidFill>
          <a:ln>
            <a:solidFill>
              <a:srgbClr val="19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90872" y="4754879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3ECCE6"/>
                </a:solidFill>
                <a:latin typeface="Aptos"/>
              </a:rPr>
              <a:t>GROUNDED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33872" y="473659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C4843"/>
          </a:solidFill>
          <a:ln>
            <a:solidFill>
              <a:srgbClr val="1C4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07024" y="4754879"/>
            <a:ext cx="10881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6FDCAF"/>
                </a:solidFill>
                <a:latin typeface="Aptos"/>
              </a:rPr>
              <a:t>VERIFIABLE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5472" y="4736592"/>
            <a:ext cx="822960" cy="310896"/>
          </a:xfrm>
          <a:prstGeom prst="roundRect">
            <a:avLst>
              <a:gd name="adj" fmla="val 12000"/>
            </a:avLst>
          </a:prstGeom>
          <a:solidFill>
            <a:srgbClr val="4B3D1D"/>
          </a:solidFill>
          <a:ln>
            <a:solidFill>
              <a:srgbClr val="4B3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78624" y="4754879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EFC359"/>
                </a:solidFill>
                <a:latin typeface="Aptos"/>
              </a:rPr>
              <a:t>SAFE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4736592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9465C"/>
          </a:solidFill>
          <a:ln>
            <a:solidFill>
              <a:srgbClr val="19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4754879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3ECCE6"/>
                </a:solidFill>
                <a:latin typeface="Aptos"/>
              </a:rPr>
              <a:t>EFFICIENT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02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Finance questions are simple. Getting a trusted answer isn't.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The product targets the gap between everyday questions and the systems that hold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" y="199339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0253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8424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Report hunting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2834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Routine lookups can mean moving between dashboards, static reports and Excel exports.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2880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89704" y="1993392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200253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98424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Repeated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31720"/>
            <a:ext cx="2834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The same balance, spend and reference questions recur — consuming finance-ops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2880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0456" y="1993392"/>
            <a:ext cx="438912" cy="438912"/>
          </a:xfrm>
          <a:prstGeom prst="ellipse">
            <a:avLst/>
          </a:prstGeom>
          <a:solidFill>
            <a:srgbClr val="C34848"/>
          </a:solidFill>
          <a:ln>
            <a:solidFill>
              <a:srgbClr val="C3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200253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1984248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Trust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331720"/>
            <a:ext cx="2834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 plausible but incorrect number is worse than no answer when auditability matters.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84448"/>
            <a:ext cx="10981944" cy="914400"/>
          </a:xfrm>
          <a:prstGeom prst="roundRect">
            <a:avLst>
              <a:gd name="adj" fmla="val 12000"/>
            </a:avLst>
          </a:prstGeom>
          <a:solidFill>
            <a:srgbClr val="E5F8FC"/>
          </a:solidFill>
          <a:ln>
            <a:solidFill>
              <a:srgbClr val="E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785615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81E34"/>
                </a:solidFill>
                <a:latin typeface="Aptos"/>
              </a:rPr>
              <a:t>THE BUSINESS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12463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C2A38"/>
                </a:solidFill>
                <a:latin typeface="Aptos"/>
              </a:rPr>
              <a:t>Can anyone ask in plain language and get a clear, accurate answer in seconds — without opening a dashboard?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C2A38"/>
                </a:solidFill>
                <a:latin typeface="Aptos"/>
              </a:rPr>
              <a:t>What TBX Insight is designed to guarantee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5321808"/>
            <a:ext cx="292608" cy="292608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330952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" y="53126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7A"/>
                </a:solidFill>
                <a:latin typeface="Aptos"/>
              </a:rPr>
              <a:t>Real dataset grounding</a:t>
            </a:r>
          </a:p>
        </p:txBody>
      </p:sp>
      <p:sp>
        <p:nvSpPr>
          <p:cNvPr id="27" name="Oval 26"/>
          <p:cNvSpPr/>
          <p:nvPr/>
        </p:nvSpPr>
        <p:spPr>
          <a:xfrm>
            <a:off x="6080760" y="5321808"/>
            <a:ext cx="292608" cy="292608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5330952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53126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7A"/>
                </a:solidFill>
                <a:latin typeface="Aptos"/>
              </a:rPr>
              <a:t>SQL-first computation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" y="5797296"/>
            <a:ext cx="292608" cy="292608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4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578815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7A"/>
                </a:solidFill>
                <a:latin typeface="Aptos"/>
              </a:rPr>
              <a:t>Human-checkable evidence</a:t>
            </a:r>
          </a:p>
        </p:txBody>
      </p:sp>
      <p:sp>
        <p:nvSpPr>
          <p:cNvPr id="33" name="Oval 32"/>
          <p:cNvSpPr/>
          <p:nvPr/>
        </p:nvSpPr>
        <p:spPr>
          <a:xfrm>
            <a:off x="6080760" y="5797296"/>
            <a:ext cx="292608" cy="292608"/>
          </a:xfrm>
          <a:prstGeom prst="ellipse">
            <a:avLst/>
          </a:prstGeom>
          <a:solidFill>
            <a:srgbClr val="C34848"/>
          </a:solidFill>
          <a:ln>
            <a:solidFill>
              <a:srgbClr val="C3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580644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578815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7A"/>
                </a:solidFill>
                <a:latin typeface="Aptos"/>
              </a:rPr>
              <a:t>Explicit handling of missing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One conversation. One source of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The assistant follows a controlled path from user intent to database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07008" y="22677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0B1DA"/>
                </a:solidFill>
                <a:latin typeface="Aptos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Natural-language
question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2971800"/>
            <a:ext cx="164592" cy="0"/>
          </a:xfrm>
          <a:prstGeom prst="line">
            <a:avLst/>
          </a:prstGeom>
          <a:ln w="19050">
            <a:solidFill>
              <a:srgbClr val="8B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59736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72384" y="2267712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72384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D69121"/>
                </a:solidFill>
                <a:latin typeface="Aptos"/>
              </a:rPr>
              <a:t>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Clarify account
when needed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23944" y="2971800"/>
            <a:ext cx="164592" cy="0"/>
          </a:xfrm>
          <a:prstGeom prst="line">
            <a:avLst/>
          </a:prstGeom>
          <a:ln w="19050">
            <a:solidFill>
              <a:srgbClr val="8B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25112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37760" y="22677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0B1DA"/>
                </a:solidFill>
                <a:latin typeface="Aptos"/>
              </a:rP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Gemini selects
approved tools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2971800"/>
            <a:ext cx="164592" cy="0"/>
          </a:xfrm>
          <a:prstGeom prst="line">
            <a:avLst/>
          </a:prstGeom>
          <a:ln w="19050">
            <a:solidFill>
              <a:srgbClr val="8B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0488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03136" y="2267712"/>
            <a:ext cx="438912" cy="438912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03136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239B66"/>
                </a:solidFill>
                <a:latin typeface="Aptos"/>
              </a:rPr>
              <a:t>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Read-only SQL
on PostgreSQL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54696" y="2971800"/>
            <a:ext cx="164592" cy="0"/>
          </a:xfrm>
          <a:prstGeom prst="line">
            <a:avLst/>
          </a:prstGeom>
          <a:ln w="19050">
            <a:solidFill>
              <a:srgbClr val="8B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55864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68512" y="2267712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68512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4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D69121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Rows + SQL
become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20072" y="2971800"/>
            <a:ext cx="164592" cy="0"/>
          </a:xfrm>
          <a:prstGeom prst="line">
            <a:avLst/>
          </a:prstGeom>
          <a:ln w="19050">
            <a:solidFill>
              <a:srgbClr val="8B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21240" y="2057400"/>
            <a:ext cx="16642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33888" y="22677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33888" y="227685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816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0B1DA"/>
                </a:solidFill>
                <a:latin typeface="Aptos"/>
              </a:rPr>
              <a:t>EXPLAIN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154680"/>
            <a:ext cx="13898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A38"/>
                </a:solidFill>
                <a:latin typeface="Aptos"/>
              </a:rPr>
              <a:t>Plain-language
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3484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8952" y="4599431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" y="460857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7592" y="4590288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No silent account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4937759"/>
            <a:ext cx="2743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If several accounts match, the user chooses the exact account instead of the assistant guessing.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9976" y="443484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44568" y="4599431"/>
            <a:ext cx="438912" cy="438912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44568" y="460857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3208" y="4590288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No model arithmetic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64024" y="4937759"/>
            <a:ext cx="2743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Financial calculations are executed in SQL using the underlying data.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65592" y="4434840"/>
            <a:ext cx="34290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330183" y="4599431"/>
            <a:ext cx="438912" cy="438912"/>
          </a:xfrm>
          <a:prstGeom prst="ellipse">
            <a:avLst/>
          </a:prstGeom>
          <a:solidFill>
            <a:srgbClr val="C34848"/>
          </a:solidFill>
          <a:ln>
            <a:solidFill>
              <a:srgbClr val="C3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0183" y="460857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78824" y="4590288"/>
            <a:ext cx="2532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No fabricated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937759"/>
            <a:ext cx="2743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Unsupported questions return an explicit insufficient-data outcome.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How a business question becomes a verified ledger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A controlled architecture keeps the AI layer useful without giving it unrestricted access to financial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103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A38"/>
                </a:solidFill>
                <a:latin typeface="Aptos"/>
              </a:rPr>
              <a:t>1 ·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192024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Aptos"/>
              </a:rPr>
              <a:t>React 19 + Vite
Chat · Dashboard ·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96596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196596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2103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A38"/>
                </a:solidFill>
                <a:latin typeface="Aptos"/>
              </a:rPr>
              <a:t>2 ·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423160"/>
            <a:ext cx="192024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Aptos"/>
              </a:rPr>
              <a:t>FastAPI
/chat · /api · /export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96596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15000" y="196596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6168" y="2103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A38"/>
                </a:solidFill>
                <a:latin typeface="Aptos"/>
              </a:rPr>
              <a:t>3 ·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423160"/>
            <a:ext cx="192024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Aptos"/>
              </a:rPr>
              <a:t>Gemini tool loop
Guide · SQL tools · session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6596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75320" y="1965960"/>
            <a:ext cx="64008" cy="1234440"/>
          </a:xfrm>
          <a:prstGeom prst="roundRect">
            <a:avLst>
              <a:gd name="adj" fmla="val 12000"/>
            </a:avLst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2103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A38"/>
                </a:solidFill>
                <a:latin typeface="Aptos"/>
              </a:rPr>
              <a:t>4 ·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423160"/>
            <a:ext cx="292608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A"/>
                </a:solidFill>
                <a:latin typeface="Aptos"/>
              </a:rPr>
              <a:t>PostgreSQL
bank · account · transaction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0360" y="2578608"/>
            <a:ext cx="256032" cy="0"/>
          </a:xfrm>
          <a:prstGeom prst="line">
            <a:avLst/>
          </a:prstGeom>
          <a:ln w="25400">
            <a:solidFill>
              <a:srgbClr val="00B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40680" y="2578608"/>
            <a:ext cx="256032" cy="0"/>
          </a:xfrm>
          <a:prstGeom prst="line">
            <a:avLst/>
          </a:prstGeom>
          <a:ln w="25400">
            <a:solidFill>
              <a:srgbClr val="00B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01000" y="2578608"/>
            <a:ext cx="256031" cy="0"/>
          </a:xfrm>
          <a:prstGeom prst="line">
            <a:avLst/>
          </a:prstGeom>
          <a:ln w="25400">
            <a:solidFill>
              <a:srgbClr val="00B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719943" y="3483864"/>
            <a:ext cx="8658497" cy="1225295"/>
          </a:xfrm>
          <a:prstGeom prst="roundRect">
            <a:avLst>
              <a:gd name="adj" fmla="val 12000"/>
            </a:avLst>
          </a:prstGeom>
          <a:solidFill>
            <a:srgbClr val="E5F8FC"/>
          </a:solidFill>
          <a:ln>
            <a:solidFill>
              <a:srgbClr val="B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4831" y="3941063"/>
            <a:ext cx="1965960" cy="228600"/>
          </a:xfrm>
          <a:prstGeom prst="rect">
            <a:avLst/>
          </a:prstGeom>
          <a:noFill/>
        </p:spPr>
        <p:txBody>
          <a:bodyPr wrap="square" lIns="256032" tIns="109728" rIns="256032" bIns="73152" anchor="ctr">
            <a:spAutoFit/>
          </a:bodyPr>
          <a:lstStyle/>
          <a:p>
            <a:pPr algn="l"/>
            <a:r>
              <a:rPr sz="950" b="1">
                <a:solidFill>
                  <a:srgbClr val="081E34"/>
                </a:solidFill>
                <a:latin typeface="Aptos"/>
              </a:rPr>
              <a:t>CONTROLLED TOOL BOUNDARY</a:t>
            </a:r>
          </a:p>
          <a:p>
            <a:pPr algn="l"/>
            <a:r>
              <a:rPr sz="1019" b="1">
                <a:solidFill>
                  <a:srgbClr val="1C2A38"/>
                </a:solidFill>
                <a:latin typeface="Aptos"/>
              </a:rPr>
              <a:t>read_database_guide  ·  list_tables  ·  find_accounts  ·  analyze_debit_trends  ·  run_sql_query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86200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A38"/>
                </a:solidFill>
                <a:latin typeface="Aptos"/>
              </a:rPr>
              <a:t>read_database_guide  ·  list_tables  ·  find_accounts  ·  analyze_debit_trends  ·  run_sql_query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7492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081E34"/>
          </a:solidFill>
          <a:ln>
            <a:solidFill>
              <a:srgbClr val="08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3309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ECCE6"/>
                </a:solidFill>
                <a:latin typeface="Aptos"/>
              </a:rPr>
              <a:t>READ-ONLY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257800"/>
            <a:ext cx="8641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SELECT / WITH only  ·  row limit 200  ·  5s timeout  ·  account + UTR masking  ·  never invent rows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05 ·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A pragmatic stack built around reliability and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Key technologies from the project; versions retained from the source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79976" y="1828800"/>
            <a:ext cx="34290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65592" y="1828800"/>
            <a:ext cx="34290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B1D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6974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Aptos"/>
              </a:rPr>
              <a:t>React 19.2.8
React Router DOM 7.18.3
Vite 8.2.2
Recharts 3.10.1
react-markdown 10.1.0
Node 20.19+ / 22.12+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1214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B1DA"/>
                </a:solidFill>
                <a:latin typeface="Aptos"/>
              </a:rPr>
              <a:t>BACKEND &amp;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578608"/>
            <a:ext cx="2743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Aptos"/>
              </a:rPr>
              <a:t>FastAPI 0.115.12
Uvicorn 0.34.2
SQLAlchemy 2.0.40
psycopg2-binary 2.9.10
Pydantic 2.11.3
openpyxl 3.1.5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1214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B1DA"/>
                </a:solidFill>
                <a:latin typeface="Aptos"/>
              </a:rPr>
              <a:t>DATA &amp;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578608"/>
            <a:ext cx="2743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A38"/>
                </a:solidFill>
                <a:latin typeface="Aptos"/>
              </a:rPr>
              <a:t>PostgreSQL
3 tables: bank · account · txn
Gemini 3.5 Flash-Lite
Gemini 3.5 Flash
google-genai ≥ 1.0.0
Temperature 0.1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166360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EBF3F9"/>
          </a:solidFill>
          <a:ln>
            <a:solidFill>
              <a:srgbClr val="EB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5184648"/>
            <a:ext cx="13624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81E34"/>
                </a:solidFill>
                <a:latin typeface="Aptos"/>
              </a:rPr>
              <a:t>MAX 5 TOOL ROUNDS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51663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EBF3F9"/>
          </a:solidFill>
          <a:ln>
            <a:solidFill>
              <a:srgbClr val="EB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7752" y="5184648"/>
            <a:ext cx="108813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81E34"/>
                </a:solidFill>
                <a:latin typeface="Aptos"/>
              </a:rPr>
              <a:t>SQL LIMIT 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4296" y="5166360"/>
            <a:ext cx="105156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5184648"/>
            <a:ext cx="90525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81E34"/>
                </a:solidFill>
                <a:latin typeface="Aptos"/>
              </a:rPr>
              <a:t>5s TIMEOUT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39912" y="5166360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5184648"/>
            <a:ext cx="14538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81E34"/>
                </a:solidFill>
                <a:latin typeface="Aptos"/>
              </a:rPr>
              <a:t>IN-MEMORY SESSION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06 ·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Designed as a finance workspace — not a search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The strongest capabilities can be grouped into four business-facing themes.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58952" y="20391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04825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029967"/>
            <a:ext cx="4407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1. Natural-language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77439"/>
            <a:ext cx="4617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Ask about balances, spend, transactions and references in the language finance teams already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874519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59" y="203911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2048255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29967"/>
            <a:ext cx="4407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2. Conversational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77439"/>
            <a:ext cx="4617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Multi-turn follow-ups preserve context; trend questions can return charts and month-over-month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3685032"/>
            <a:ext cx="438912" cy="438912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69417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675888"/>
            <a:ext cx="4407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3. Evidence &amp; actionability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023360"/>
            <a:ext cx="4617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Expand the underlying rows and SQL, then export evidence to CSV or Excel for follow-up.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352044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3685032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369417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75888"/>
            <a:ext cx="4407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4. Trust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023360"/>
            <a:ext cx="461772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Account disambiguation, confidence/status, anomaly callouts and honest insufficient-data responses.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57800"/>
            <a:ext cx="10853928" cy="868680"/>
          </a:xfrm>
          <a:prstGeom prst="roundRect">
            <a:avLst>
              <a:gd name="adj" fmla="val 12000"/>
            </a:avLst>
          </a:prstGeom>
          <a:solidFill>
            <a:srgbClr val="EBF3F9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4088" y="5367528"/>
            <a:ext cx="10634472" cy="649224"/>
          </a:xfrm>
          <a:prstGeom prst="rect">
            <a:avLst/>
          </a:prstGeom>
          <a:noFill/>
          <a:ln w="15240">
            <a:solidFill>
              <a:srgbClr val="00B1D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527548"/>
            <a:ext cx="10305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81E34"/>
                </a:solidFill>
                <a:latin typeface="Aptos"/>
              </a:rPr>
              <a:t>OPTIONAL: PRODUCT OVERVIEW SCREENSHOT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1868"/>
            <a:ext cx="103052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E8D9A"/>
                </a:solidFill>
                <a:latin typeface="Aptos"/>
              </a:rPr>
              <a:t>Add a clean application screenshot here later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07 ·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A polished front door for finance conversations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Use this slide to anchor the business story in the actual product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69951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_tbx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2536"/>
            <a:ext cx="6647688" cy="390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233172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C2A38"/>
                </a:solidFill>
                <a:latin typeface="Aptos"/>
              </a:rPr>
              <a:t>Chat-first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15184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Suggested questions reduce time-to-value.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4612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C2A38"/>
                </a:solidFill>
                <a:latin typeface="Aptos"/>
              </a:rPr>
              <a:t>Response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529584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Efficient / Balanced / Precision makes model choice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16052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C2A38"/>
                </a:solidFill>
                <a:latin typeface="Aptos"/>
              </a:rPr>
              <a:t>Finance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443983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Dashboard, Banks, Accounts and Transactions share the same source of truth.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07492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C2A38"/>
                </a:solidFill>
                <a:latin typeface="Aptos"/>
              </a:rPr>
              <a:t>Traceable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358383"/>
            <a:ext cx="32461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Answers can expose evidence, SQL, confidence and status.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08 · TRUST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The assistant can look up money. It cannot change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Guardrails are part of the product experience — not hidden implementation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749039" cy="4206240"/>
          </a:xfrm>
          <a:prstGeom prst="roundRect">
            <a:avLst>
              <a:gd name="adj" fmla="val 12000"/>
            </a:avLst>
          </a:prstGeom>
          <a:solidFill>
            <a:srgbClr val="081E34"/>
          </a:solidFill>
          <a:ln>
            <a:solidFill>
              <a:srgbClr val="081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ECCE6"/>
                </a:solidFill>
                <a:latin typeface="Aptos"/>
              </a:rPr>
              <a:t>SAFE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2743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Read.
Verify.
Explain.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CD2E0"/>
                </a:solidFill>
                <a:latin typeface="Aptos"/>
              </a:rPr>
              <a:t>No write operations. No silent account selection. No invented rows.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68305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82312" y="1993392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002536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1984248"/>
            <a:ext cx="5934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Read-only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331720"/>
            <a:ext cx="6144768" cy="210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Only SELECT / WITH statements are allowed.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889504"/>
            <a:ext cx="68305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82312" y="3054096"/>
            <a:ext cx="438912" cy="438912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82312" y="3063240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044952"/>
            <a:ext cx="5934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Data masking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3392424"/>
            <a:ext cx="6144768" cy="210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Account numbers and UTRs are masked in user-facing outputs.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950208"/>
            <a:ext cx="68305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82312" y="4114800"/>
            <a:ext cx="438912" cy="438912"/>
          </a:xfrm>
          <a:prstGeom prst="ellipse">
            <a:avLst/>
          </a:prstGeom>
          <a:solidFill>
            <a:srgbClr val="239B66"/>
          </a:solidFill>
          <a:ln>
            <a:solidFill>
              <a:srgbClr val="23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2312" y="4123944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4105656"/>
            <a:ext cx="5934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Explicit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1768" y="4453128"/>
            <a:ext cx="6144768" cy="210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Answered / needs clarification / insufficient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5010912"/>
            <a:ext cx="68305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82312" y="5175503"/>
            <a:ext cx="438912" cy="438912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5184647"/>
            <a:ext cx="438912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5166359"/>
            <a:ext cx="5934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C2A38"/>
                </a:solidFill>
                <a:latin typeface="Aptos"/>
              </a:rPr>
              <a:t>Evidence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5513831"/>
            <a:ext cx="6144768" cy="210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B6B7A"/>
                </a:solidFill>
                <a:latin typeface="Aptos"/>
              </a:rPr>
              <a:t>Rows and SQL can be inspected behind the answer.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09 · DEMO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C2A38"/>
                </a:solidFill>
                <a:latin typeface="Aptos"/>
              </a:rPr>
              <a:t>A six-minute story from overview to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E8D9A"/>
                </a:solidFill>
                <a:latin typeface="Aptos"/>
              </a:rPr>
              <a:t>Keep the live walkthrough focused: start with the business view, then demonstrate how trust is earned.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4825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Show live workspace totals, spend by bank and top payees.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2880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07992" y="2039112"/>
            <a:ext cx="457200" cy="457200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204825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35915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Show a real finance question and the grounded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2880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38744" y="2039112"/>
            <a:ext cx="457200" cy="457200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048255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11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Inspect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35915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Expand evidence and SQL to show how the number was produced.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2044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3730752"/>
            <a:ext cx="457200" cy="457200"/>
          </a:xfrm>
          <a:prstGeom prst="ellipse">
            <a:avLst/>
          </a:prstGeom>
          <a:solidFill>
            <a:srgbClr val="00B1DA"/>
          </a:solidFill>
          <a:ln>
            <a:solidFill>
              <a:srgbClr val="00B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73989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03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50791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Show trend / MoM logic and anomaly callouts.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352044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07992" y="3730752"/>
            <a:ext cx="457200" cy="457200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373989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703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50791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Ask something the schema cannot support; show honest handling.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3520440"/>
            <a:ext cx="342900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38744" y="3730752"/>
            <a:ext cx="457200" cy="457200"/>
          </a:xfrm>
          <a:prstGeom prst="ellipse">
            <a:avLst/>
          </a:prstGeom>
          <a:solidFill>
            <a:srgbClr val="D69121"/>
          </a:solidFill>
          <a:ln>
            <a:solidFill>
              <a:srgbClr val="D6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8744" y="3739896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7033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C2A38"/>
                </a:solidFill>
                <a:latin typeface="Aptos"/>
              </a:rPr>
              <a:t>Retry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050791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5B6B7A"/>
                </a:solidFill>
                <a:latin typeface="Aptos"/>
              </a:rPr>
              <a:t>Use feedback or response profile to demonstrate controlled flexibility.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C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E8D9A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7E8D9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10 ·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Faster answers. Higher trust. Safer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101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A5C4D8"/>
                </a:solidFill>
                <a:latin typeface="Aptos"/>
              </a:rPr>
              <a:t>The prototype is designed to reduce friction around everyday finance questions without compromising auditability.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542032" cy="2331720"/>
          </a:xfrm>
          <a:prstGeom prst="roundRect">
            <a:avLst>
              <a:gd name="adj" fmla="val 12000"/>
            </a:avLst>
          </a:prstGeom>
          <a:solidFill>
            <a:srgbClr val="0E2E44"/>
          </a:solidFill>
          <a:ln>
            <a:solidFill>
              <a:srgbClr val="275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Seconds to a useful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BD1DF"/>
                </a:solidFill>
                <a:latin typeface="Aptos"/>
              </a:rPr>
              <a:t>Less time spent hunting dashboards or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965960"/>
            <a:ext cx="2542032" cy="2331720"/>
          </a:xfrm>
          <a:prstGeom prst="roundRect">
            <a:avLst>
              <a:gd name="adj" fmla="val 12000"/>
            </a:avLst>
          </a:prstGeom>
          <a:solidFill>
            <a:srgbClr val="0E2E44"/>
          </a:solidFill>
          <a:ln>
            <a:solidFill>
              <a:srgbClr val="275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22402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239B66"/>
                </a:solidFill>
                <a:latin typeface="Aptos"/>
              </a:rP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65176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Every figure is query-backed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5204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BD1DF"/>
                </a:solidFill>
                <a:latin typeface="Aptos"/>
              </a:rPr>
              <a:t>Evidence and SQL make the answer inspectable.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965960"/>
            <a:ext cx="2542032" cy="2331720"/>
          </a:xfrm>
          <a:prstGeom prst="roundRect">
            <a:avLst>
              <a:gd name="adj" fmla="val 12000"/>
            </a:avLst>
          </a:prstGeom>
          <a:solidFill>
            <a:srgbClr val="0E2E44"/>
          </a:solidFill>
          <a:ln>
            <a:solidFill>
              <a:srgbClr val="275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2402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D69121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5176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AI operates within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5204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BD1DF"/>
                </a:solidFill>
                <a:latin typeface="Aptos"/>
              </a:rPr>
              <a:t>Read-only access, masking and explicit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965960"/>
            <a:ext cx="2542032" cy="2331720"/>
          </a:xfrm>
          <a:prstGeom prst="roundRect">
            <a:avLst>
              <a:gd name="adj" fmla="val 12000"/>
            </a:avLst>
          </a:prstGeom>
          <a:solidFill>
            <a:srgbClr val="0E2E44"/>
          </a:solidFill>
          <a:ln>
            <a:solidFill>
              <a:srgbClr val="2754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07424" y="224028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0B1DA"/>
                </a:solidFill>
                <a:latin typeface="Aptos"/>
              </a:rP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65176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Small model + strong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352044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BD1DF"/>
                </a:solidFill>
                <a:latin typeface="Aptos"/>
              </a:rPr>
              <a:t>Model choice is optimized for the task, not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9204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TBX Insight turns finance data into a conversation —
without turning trust into a trade-off.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5138928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13465D"/>
          </a:solidFill>
          <a:ln>
            <a:solidFill>
              <a:srgbClr val="134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57232" y="5157216"/>
            <a:ext cx="11795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3ECCE6"/>
                </a:solidFill>
                <a:latin typeface="Aptos"/>
              </a:rPr>
              <a:t>TBX INSIGHT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3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562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B0C5D5"/>
                </a:solidFill>
                <a:latin typeface="Aptos"/>
              </a:rPr>
              <a:t>TBX INSIGHT  ·  TBX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5624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B0C5D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68EC"/>
                </a:solidFill>
                <a:latin typeface="Aptos"/>
              </a:rPr>
              <a:t>TBX INSIGHT  ·  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F3A"/>
                </a:solidFill>
                <a:latin typeface="Aptos"/>
              </a:rPr>
              <a:t>Ask Your Finances. Get Instant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9"/>
                </a:solidFill>
                <a:latin typeface="Aptos"/>
              </a:rPr>
              <a:t>Natural-language interaction turns everyday finance questions into fast, data-grounded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9224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Ask in plain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Query balances, transactions, spending and accounts without navigating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402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2706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2706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5042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Conversational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994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Ask follow-ups naturally while keeping the financial context intact.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6188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6188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524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Data-grounded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4476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Responses are tied to the underlying ledger rather than generic assumptions.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Finance summary — account &amp; balance overview</a:t>
            </a:r>
          </a:p>
        </p:txBody>
      </p:sp>
      <p:pic>
        <p:nvPicPr>
          <p:cNvPr id="23" name="Picture 22" descr="Screenshot 2026-09-05 170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79" y="3200400"/>
            <a:ext cx="4029368" cy="311810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87287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447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Follow-up analysis — spending after a specific credit</a:t>
            </a:r>
          </a:p>
        </p:txBody>
      </p:sp>
      <p:pic>
        <p:nvPicPr>
          <p:cNvPr id="26" name="Picture 25" descr="Screenshot 2026-09-05 1709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15" y="3240402"/>
            <a:ext cx="5282031" cy="3038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7689"/>
                </a:solidFill>
                <a:latin typeface="Aptos"/>
              </a:rPr>
              <a:t>TBX INSIGHT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68EC"/>
                </a:solidFill>
                <a:latin typeface="Aptos"/>
              </a:rPr>
              <a:t>TBX INSIGHT  ·  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F3A"/>
                </a:solidFill>
                <a:latin typeface="Aptos"/>
              </a:rPr>
              <a:t>From Spending Data to Actionable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9"/>
                </a:solidFill>
                <a:latin typeface="Aptos"/>
              </a:rPr>
              <a:t>The assistant converts transaction history into trends, month-over-month changes and anomaly callouts.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9224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Spot spending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See monthly debit movement and MoM changes at a glance.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402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2706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2706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5042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Detect 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994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Flag unusually high months and individual transactions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6188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6188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524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Explain 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4476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Surface the transactions and categories driving a spending spike.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Spend trend — monthly debits with MoM context</a:t>
            </a:r>
          </a:p>
        </p:txBody>
      </p:sp>
      <p:pic>
        <p:nvPicPr>
          <p:cNvPr id="23" name="Picture 22" descr="Screenshot 2026-09-05 1706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13" y="3200400"/>
            <a:ext cx="4853700" cy="311810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87287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447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Anomaly detection — flagged month &amp; transactions</a:t>
            </a:r>
          </a:p>
        </p:txBody>
      </p:sp>
      <p:pic>
        <p:nvPicPr>
          <p:cNvPr id="26" name="Picture 25" descr="Screenshot 2026-09-05 170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15" y="3314470"/>
            <a:ext cx="5282031" cy="28899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7689"/>
                </a:solidFill>
                <a:latin typeface="Aptos"/>
              </a:rPr>
              <a:t>TBX INSIGHT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943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68EC"/>
                </a:solidFill>
                <a:latin typeface="Aptos"/>
              </a:rPr>
              <a:t>TBX INSIGHT  ·  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C1F3A"/>
                </a:solidFill>
                <a:latin typeface="Aptos"/>
              </a:rPr>
              <a:t>Every Answer Comes With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97689"/>
                </a:solidFill>
                <a:latin typeface="Aptos"/>
              </a:rPr>
              <a:t>Explainability is built into the experience: users can inspect the evidence and the SQL behind an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9224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Inspect the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Expand the underlying transaction rows supporting the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402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2706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2706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5042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SQL-backed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994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Financial calculations are executed against the database, not improvised by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572768"/>
            <a:ext cx="361889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6188" y="1728216"/>
            <a:ext cx="310896" cy="310896"/>
          </a:xfrm>
          <a:prstGeom prst="ellipse">
            <a:avLst/>
          </a:prstGeom>
          <a:solidFill>
            <a:srgbClr val="0C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6188" y="1728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524" y="1691640"/>
            <a:ext cx="29330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C1F3A"/>
                </a:solidFill>
                <a:latin typeface="Aptos"/>
              </a:rPr>
              <a:t>Traceable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4476" y="2084832"/>
            <a:ext cx="328970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97689"/>
                </a:solidFill>
                <a:latin typeface="Aptos"/>
              </a:rPr>
              <a:t>Confidence, status, evidence and SQL make results easy to verify.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Evidence trail — trend analysis with SQL access</a:t>
            </a:r>
          </a:p>
        </p:txBody>
      </p:sp>
      <p:pic>
        <p:nvPicPr>
          <p:cNvPr id="23" name="Picture 22" descr="Screenshot 2026-09-05 1705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336118"/>
            <a:ext cx="5282031" cy="28466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87287" y="2788920"/>
            <a:ext cx="5501487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447" y="2880360"/>
            <a:ext cx="522716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C1F3A"/>
                </a:solidFill>
                <a:latin typeface="Aptos"/>
              </a:rPr>
              <a:t>Evidence trail — financial summary with source data</a:t>
            </a:r>
          </a:p>
        </p:txBody>
      </p:sp>
      <p:pic>
        <p:nvPicPr>
          <p:cNvPr id="26" name="Picture 25" descr="Screenshot 2026-09-05 1708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49" y="3200400"/>
            <a:ext cx="4403963" cy="311810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5379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97689"/>
                </a:solidFill>
                <a:latin typeface="Aptos"/>
              </a:rPr>
              <a:t>TBX INSIGHT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7D65B-C545-A70E-748C-058DAE94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5BB6A-4AEB-545C-C232-74DBAE47F526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6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9ABE3-40F3-5FA7-BD21-32C5DEB4D2A4}"/>
              </a:ext>
            </a:extLst>
          </p:cNvPr>
          <p:cNvSpPr txBox="1"/>
          <p:nvPr/>
        </p:nvSpPr>
        <p:spPr>
          <a:xfrm>
            <a:off x="1036320" y="1143000"/>
            <a:ext cx="111556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5400" b="1" dirty="0">
                <a:solidFill>
                  <a:srgbClr val="0C1F3A"/>
                </a:solidFill>
                <a:latin typeface="Aptos"/>
              </a:rPr>
              <a:t>THANK YOU</a:t>
            </a:r>
            <a:endParaRPr sz="5400" b="1" dirty="0">
              <a:solidFill>
                <a:srgbClr val="0C1F3A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0CE72F-A910-1DE8-208A-305E32EC8C26}"/>
              </a:ext>
            </a:extLst>
          </p:cNvPr>
          <p:cNvSpPr txBox="1"/>
          <p:nvPr/>
        </p:nvSpPr>
        <p:spPr>
          <a:xfrm>
            <a:off x="1036320" y="3136178"/>
            <a:ext cx="7708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Members:</a:t>
            </a:r>
          </a:p>
          <a:p>
            <a:r>
              <a:rPr lang="en-US" sz="2800" dirty="0"/>
              <a:t>	- Nikita </a:t>
            </a:r>
            <a:r>
              <a:rPr lang="en-US" sz="2800" dirty="0" err="1"/>
              <a:t>Chelani</a:t>
            </a:r>
            <a:endParaRPr lang="en-US" sz="2800" dirty="0"/>
          </a:p>
          <a:p>
            <a:r>
              <a:rPr lang="en-US" sz="2800" dirty="0"/>
              <a:t>	- Shashank Joshi</a:t>
            </a:r>
          </a:p>
          <a:p>
            <a:r>
              <a:rPr lang="en-US" sz="2800" dirty="0"/>
              <a:t>	- Murali Krishna Reddy</a:t>
            </a:r>
          </a:p>
          <a:p>
            <a:r>
              <a:rPr lang="en-US" sz="2800" dirty="0"/>
              <a:t>	- Ishita Verma</a:t>
            </a:r>
            <a:endParaRPr lang="te-IN" sz="2800" dirty="0"/>
          </a:p>
        </p:txBody>
      </p:sp>
    </p:spTree>
    <p:extLst>
      <p:ext uri="{BB962C8B-B14F-4D97-AF65-F5344CB8AC3E}">
        <p14:creationId xmlns:p14="http://schemas.microsoft.com/office/powerpoint/2010/main" val="156593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57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1516</Words>
  <Application>Microsoft Office PowerPoint</Application>
  <PresentationFormat>Widescreen</PresentationFormat>
  <Paragraphs>260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MKREDDY</dc:creator>
  <cp:keywords/>
  <dc:description>generated using python-pptx</dc:description>
  <cp:lastModifiedBy>Murali Krishna Reddy</cp:lastModifiedBy>
  <cp:revision>4</cp:revision>
  <dcterms:created xsi:type="dcterms:W3CDTF">2013-01-27T09:14:16Z</dcterms:created>
  <dcterms:modified xsi:type="dcterms:W3CDTF">2026-09-05T11:59:44Z</dcterms:modified>
  <cp:category/>
</cp:coreProperties>
</file>