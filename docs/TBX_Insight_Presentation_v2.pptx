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4754880"/>
            <a:ext cx="2743200" cy="2743200"/>
          </a:xfrm>
          <a:prstGeom prst="ellipse">
            <a:avLst/>
          </a:prstGeom>
          <a:solidFill>
            <a:srgbClr val="0D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EEF"/>
                </a:solidFill>
                <a:latin typeface="Calibri"/>
              </a:rPr>
              <a:t>TBX FINANCE  ·  BVP TECH CATALYST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TBX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9144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CBD5E1"/>
                </a:solidFill>
                <a:latin typeface="Calibri"/>
              </a:rPr>
              <a:t>A grounded finance assistant that answers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AEEF"/>
                </a:solidFill>
                <a:latin typeface="Calibri"/>
              </a:rPr>
              <a:t>from your ledger — never from guesses.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29200"/>
            <a:ext cx="2468880" cy="384048"/>
          </a:xfrm>
          <a:prstGeom prst="roundRect">
            <a:avLst>
              <a:gd name="adj" fmla="val 40000"/>
            </a:avLst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React + 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5029200"/>
            <a:ext cx="2468880" cy="384048"/>
          </a:xfrm>
          <a:prstGeom prst="roundRect">
            <a:avLst>
              <a:gd name="adj" fmla="val 40000"/>
            </a:avLst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5029200"/>
            <a:ext cx="2468880" cy="384048"/>
          </a:xfrm>
          <a:prstGeom prst="roundRect">
            <a:avLst>
              <a:gd name="adj" fmla="val 40000"/>
            </a:avLst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Gemini Flash / Lite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5029200"/>
            <a:ext cx="2468880" cy="384048"/>
          </a:xfrm>
          <a:prstGeom prst="roundRect">
            <a:avLst>
              <a:gd name="adj" fmla="val 40000"/>
            </a:avLst>
          </a:prstGeom>
          <a:solidFill>
            <a:srgbClr val="12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Evidence-first 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A focused path from problem → proof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783080"/>
            <a:ext cx="91440" cy="187451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3017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0AEEF"/>
                </a:solidFill>
                <a:latin typeface="Calibri"/>
              </a:rPr>
              <a:t>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Problem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Why finance Q&amp;A fails without grounding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8308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83080"/>
            <a:ext cx="91440" cy="187451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03120"/>
            <a:ext cx="3017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0AEEF"/>
                </a:solidFill>
                <a:latin typeface="Calibri"/>
              </a:rPr>
              <a:t>02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Approach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SQL-first tools, evidence, guardrails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78308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783080"/>
            <a:ext cx="91440" cy="187451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103120"/>
            <a:ext cx="3017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0AEEF"/>
                </a:solidFill>
                <a:latin typeface="Calibri"/>
              </a:rPr>
              <a:t>03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End-to-end system &amp; request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31920"/>
            <a:ext cx="91440" cy="187451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51959"/>
            <a:ext cx="3017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0AEEF"/>
                </a:solidFill>
                <a:latin typeface="Calibri"/>
              </a:rPr>
              <a:t>04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Model choice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Smallest model that stays accurate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3192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931920"/>
            <a:ext cx="91440" cy="187451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251959"/>
            <a:ext cx="3017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0AEEF"/>
                </a:solidFill>
                <a:latin typeface="Calibri"/>
              </a:rPr>
              <a:t>05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Demo flow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Live walkthrough script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93192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931920"/>
            <a:ext cx="91440" cy="187451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251959"/>
            <a:ext cx="3017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0AEEF"/>
                </a:solidFill>
                <a:latin typeface="Calibri"/>
              </a:rPr>
              <a:t>06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Sample Q&amp;A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Grounded answers + screenshot slots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DC9F5"/>
                </a:solidFill>
                <a:latin typeface="Calibri"/>
              </a:rPr>
              <a:t>TBX Insight  ·  Corporate Banking Infrastructure for a Connected Financial Ecosystem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620256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02  / 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Routine finance questions shouldn’t require a dashboard expedition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55321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5029200" cy="4023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TODAY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Finance teams field the same lookups on repeat.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Static reports &amp; exports for simple questions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Vendor spend / unreconciled status = wait on ops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• Everyday decisions slow down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THE STAKES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An invented number isn’t a minor bug 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it’s a liability for audits and trust.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440680" cy="44805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846320" cy="4023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CHALLENGE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Plain-language questions.</a:t>
            </a:r>
            <a:br/>
            <a:r>
              <a:rPr sz="2000" b="1" i="0">
                <a:solidFill>
                  <a:srgbClr val="FFFFFF"/>
                </a:solidFill>
                <a:latin typeface="Calibri"/>
              </a:rPr>
              <a:t>Ledger-truthful answers.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E2E8F0"/>
                </a:solidFill>
                <a:latin typeface="Calibri"/>
              </a:rPr>
              <a:t>✓ Natural language understanding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E2E8F0"/>
                </a:solidFill>
                <a:latin typeface="Calibri"/>
              </a:rPr>
              <a:t>✓ Grounded retrieval only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E2E8F0"/>
                </a:solidFill>
                <a:latin typeface="Calibri"/>
              </a:rPr>
              <a:t>✓ Verifiable evidence + SQL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E2E8F0"/>
                </a:solidFill>
                <a:latin typeface="Calibri"/>
              </a:rPr>
              <a:t>✓ Honest “insufficient data”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E2E8F0"/>
                </a:solidFill>
                <a:latin typeface="Calibri"/>
              </a:rPr>
              <a:t>✓ Lightweight model constraint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EEF"/>
                </a:solidFill>
                <a:latin typeface="Calibri"/>
              </a:rPr>
              <a:t>Scoring focus: Grounding 30%  ·  Efficiency 20%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DC9F5"/>
                </a:solidFill>
                <a:latin typeface="Calibri"/>
              </a:rPr>
              <a:t>TBX Insight  ·  Corporate Banking Infrastructure for a Connected Financial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20256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03  / 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Our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Compute in SQL · Explain in language · Never invent figures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0116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057400"/>
            <a:ext cx="4114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Grounded retrieval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Every fact comes from PostgreSQL via read-only SELECT tools — never model memory.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9164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29400" y="20116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057400"/>
            <a:ext cx="4114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Compute, then narrate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Filters, MoM %, anomalies run in SQL. The LLM only explains returned rows.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3192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2519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297680"/>
            <a:ext cx="4114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Verifiable answers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Plain answer + evidence table + collapsible SQL + CSV / Excel export.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93192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42519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297680"/>
            <a:ext cx="4114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Hard guardrails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Ambiguity → chips. Missing data → say so. Thumbs-down → regenerate SQL.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DC9F5"/>
                </a:solidFill>
                <a:latin typeface="Calibri"/>
              </a:rPr>
              <a:t>TBX Insight  ·  Corporate Banking Infrastructure for a Connected Financial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620256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04  / 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TBX Insight — grounded tool-calling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4592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D9F3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23317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USER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TBX Insight UI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React · Vite</a:t>
            </a:r>
            <a:br/>
            <a:r>
              <a:rPr sz="1200" b="0" i="0">
                <a:solidFill>
                  <a:srgbClr val="64748B"/>
                </a:solidFill>
                <a:latin typeface="Calibri"/>
              </a:rPr>
              <a:t>Chat +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6888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AEEF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64592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783080"/>
            <a:ext cx="23317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API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FastAPI Gateway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/chat · /api</a:t>
            </a:r>
            <a:br/>
            <a:r>
              <a:rPr sz="1200" b="0" i="0">
                <a:solidFill>
                  <a:srgbClr val="64748B"/>
                </a:solidFill>
                <a:latin typeface="Calibri"/>
              </a:rPr>
              <a:t>/export · /health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46888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AEEF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4592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23317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AGENT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Gemini Tool Loop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Calibri"/>
              </a:rPr>
              <a:t>Session memory</a:t>
            </a:r>
            <a:br/>
            <a:r>
              <a:rPr sz="1200" b="0" i="0">
                <a:solidFill>
                  <a:srgbClr val="CBD5E1"/>
                </a:solidFill>
                <a:latin typeface="Calibri"/>
              </a:rPr>
              <a:t>Schema-aware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46888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AEEF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64592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783080"/>
            <a:ext cx="23317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DATA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PostgreSQL 18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bank · account</a:t>
            </a:r>
            <a:br/>
            <a:r>
              <a:rPr sz="1200" b="0" i="0">
                <a:solidFill>
                  <a:srgbClr val="64748B"/>
                </a:solidFill>
                <a:latin typeface="Calibri"/>
              </a:rPr>
              <a:t>"transaction"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02336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TOOL BELT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F3A"/>
                </a:solidFill>
                <a:latin typeface="Calibri"/>
              </a:rPr>
              <a:t>read_database_guide   ·   list_tables   ·   run_sql_query   ·   find_accounts   ·   analyze_debit_trends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12064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RESPONSE CONTRACT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answer  +  evidence{sql, columns, rows}  +  confidence  +  status  +  choices / insights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DC9F5"/>
                </a:solidFill>
                <a:latin typeface="Calibri"/>
              </a:rPr>
              <a:t>TBX Insight  ·  Corporate Banking Infrastructure for a Connected Financial Ecosystem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20256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05  / 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Request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From natural language to a verified ledger answer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1600200"/>
            <a:ext cx="502920" cy="50292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6420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28600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68880"/>
            <a:ext cx="15544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Ask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NL question +</a:t>
            </a:r>
            <a:br/>
            <a:r>
              <a:rPr sz="1100" b="0" i="0">
                <a:solidFill>
                  <a:srgbClr val="64748B"/>
                </a:solidFill>
                <a:latin typeface="Calibri"/>
              </a:rPr>
              <a:t>optimize_for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926080"/>
            <a:ext cx="274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AEEF"/>
                </a:solidFill>
                <a:latin typeface="Calibri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2926079" y="1600200"/>
            <a:ext cx="502920" cy="50292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79" y="166420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228600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79" y="2468880"/>
            <a:ext cx="15544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Clarify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Ambiguous?</a:t>
            </a:r>
            <a:br/>
            <a:r>
              <a:rPr sz="1100" b="0" i="0">
                <a:solidFill>
                  <a:srgbClr val="64748B"/>
                </a:solidFill>
                <a:latin typeface="Calibri"/>
              </a:rPr>
              <a:t>Account chips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79" y="2926080"/>
            <a:ext cx="274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AEEF"/>
                </a:solidFill>
                <a:latin typeface="Calibri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4892040" y="1600200"/>
            <a:ext cx="502920" cy="50292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66420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228600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468880"/>
            <a:ext cx="15544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Plan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LLM selects</a:t>
            </a:r>
            <a:br/>
            <a:r>
              <a:rPr sz="1100" b="0" i="0">
                <a:solidFill>
                  <a:srgbClr val="64748B"/>
                </a:solidFill>
                <a:latin typeface="Calibri"/>
              </a:rPr>
              <a:t>tools + 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926080"/>
            <a:ext cx="274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AEEF"/>
                </a:solidFill>
                <a:latin typeface="Calibri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1600200"/>
            <a:ext cx="502920" cy="50292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66420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28600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468880"/>
            <a:ext cx="15544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Query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Read-only</a:t>
            </a:r>
            <a:br/>
            <a:r>
              <a:rPr sz="1100" b="0" i="0">
                <a:solidFill>
                  <a:srgbClr val="64748B"/>
                </a:solidFill>
                <a:latin typeface="Calibri"/>
              </a:rPr>
              <a:t>Postgres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926080"/>
            <a:ext cx="274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AEEF"/>
                </a:solidFill>
                <a:latin typeface="Calibri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8823960" y="1600200"/>
            <a:ext cx="502920" cy="50292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166420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228600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468880"/>
            <a:ext cx="15544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Evidence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Rows + SQL</a:t>
            </a:r>
            <a:br/>
            <a:r>
              <a:rPr sz="1100" b="0" i="0">
                <a:solidFill>
                  <a:srgbClr val="64748B"/>
                </a:solidFill>
                <a:latin typeface="Calibri"/>
              </a:rPr>
              <a:t>retained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926080"/>
            <a:ext cx="274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AEEF"/>
                </a:solidFill>
                <a:latin typeface="Calibri"/>
              </a:rP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10789920" y="1600200"/>
            <a:ext cx="502920" cy="50292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0" y="166420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95560" y="2286000"/>
            <a:ext cx="1828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2468880"/>
            <a:ext cx="15544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Answer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Narrate only</a:t>
            </a:r>
            <a:br/>
            <a:r>
              <a:rPr sz="1100" b="0" i="0">
                <a:solidFill>
                  <a:srgbClr val="64748B"/>
                </a:solidFill>
                <a:latin typeface="Calibri"/>
              </a:rPr>
              <a:t>from rows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4297680"/>
            <a:ext cx="11338560" cy="17830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526280"/>
            <a:ext cx="10789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DATA MODEL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bank  (1)   ———&lt;   account  (many)   ———&lt;   "transaction"  (many)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Seed  ·  10 banks  ·  10 accounts  ·  10 transactions     |     Hosting  ·  React → FastAPI → Gemini → Postgres on EC2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DC9F5"/>
                </a:solidFill>
                <a:latin typeface="Calibri"/>
              </a:rPr>
              <a:t>TBX Insight  ·  Corporate Banking Infrastructure for a Connected Financial Ecosystem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620256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06  /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Model choice 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Constraint: lowest possible model, highest possible accuracy (≤ 20B)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D9F3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06324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EFFICIENT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Gemini 3.5</a:t>
            </a:r>
            <a:br/>
            <a:r>
              <a:rPr sz="2000" b="1" i="0">
                <a:solidFill>
                  <a:srgbClr val="0B1F3A"/>
                </a:solidFill>
                <a:latin typeface="Calibri"/>
              </a:rPr>
              <a:t>Flash-Lite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Cost / speed mode</a:t>
            </a:r>
            <a:br/>
            <a:r>
              <a:rPr sz="1200" b="0" i="0">
                <a:solidFill>
                  <a:srgbClr val="64748B"/>
                </a:solidFill>
                <a:latin typeface="Calibri"/>
              </a:rPr>
              <a:t>Routine lookups</a:t>
            </a:r>
            <a:br/>
            <a:r>
              <a:rPr sz="1200" b="0" i="0">
                <a:solidFill>
                  <a:srgbClr val="64748B"/>
                </a:solidFill>
                <a:latin typeface="Calibri"/>
              </a:rPr>
              <a:t>Same tool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28800"/>
            <a:ext cx="306324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PRIMARY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Gemini 3.5</a:t>
            </a:r>
            <a:br/>
            <a:r>
              <a:rPr sz="2000" b="1" i="0">
                <a:solidFill>
                  <a:srgbClr val="FFFFFF"/>
                </a:solidFill>
                <a:latin typeface="Calibri"/>
              </a:rPr>
              <a:t>Flash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Calibri"/>
              </a:rPr>
              <a:t>Balanced &amp; Precision</a:t>
            </a:r>
            <a:br/>
            <a:r>
              <a:rPr sz="1200" b="0" i="0">
                <a:solidFill>
                  <a:srgbClr val="CBD5E1"/>
                </a:solidFill>
                <a:latin typeface="Calibri"/>
              </a:rPr>
              <a:t>Strong tool use</a:t>
            </a:r>
            <a:br/>
            <a:r>
              <a:rPr sz="1200" b="0" i="0">
                <a:solidFill>
                  <a:srgbClr val="CBD5E1"/>
                </a:solidFill>
                <a:latin typeface="Calibri"/>
              </a:rPr>
              <a:t>Multi-turn coherence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64592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828800"/>
            <a:ext cx="306324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NOT USED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Frontier giants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Scored down without</a:t>
            </a:r>
            <a:br/>
            <a:r>
              <a:rPr sz="1200" b="0" i="0">
                <a:solidFill>
                  <a:srgbClr val="64748B"/>
                </a:solidFill>
                <a:latin typeface="Calibri"/>
              </a:rPr>
              <a:t>justification</a:t>
            </a:r>
            <a:br/>
            <a:r>
              <a:rPr sz="1200" b="0" i="0">
                <a:solidFill>
                  <a:srgbClr val="64748B"/>
                </a:solidFill>
                <a:latin typeface="Calibri"/>
              </a:rPr>
              <a:t>Accuracy ≠ parameter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43400"/>
            <a:ext cx="111556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1060704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HOW A SMALL MODEL STAYS ACCURATE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Schema guide as a tool   ·   Hard “never invent” rules   ·   Aggregations in SQL   ·   Synthesis if tools exhaust   ·   Feedback → new 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Result: lightweight NL layer + heavy lifting in the database — judged on efficiency without sacrificing grounding.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DC9F5"/>
                </a:solidFill>
                <a:latin typeface="Calibri"/>
              </a:rPr>
              <a:t>TBX Insight  ·  Corporate Banking Infrastructure for a Connected Financial 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620256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07  / 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Demo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Suggested 5–7 minute walkthrough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1627632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39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1554480"/>
            <a:ext cx="10287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1664207"/>
            <a:ext cx="9875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1F3A"/>
                </a:solidFill>
                <a:latin typeface="Calibri"/>
              </a:rPr>
              <a:t>Dashboard    —    Open workspace metrics, spend-by-bank, top payees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377440"/>
            <a:ext cx="502920" cy="50292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414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2304288"/>
            <a:ext cx="10287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2414016"/>
            <a:ext cx="9875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1F3A"/>
                </a:solidFill>
                <a:latin typeface="Calibri"/>
              </a:rPr>
              <a:t>Balances    —    Ask HDFC balances — chips or summed evidence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127248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191256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3054096"/>
            <a:ext cx="10287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3163824"/>
            <a:ext cx="9875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1F3A"/>
                </a:solidFill>
                <a:latin typeface="Calibri"/>
              </a:rPr>
              <a:t>Reference    —    Lookup ref HDFCH01078329532 → exact debit row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" y="3877056"/>
            <a:ext cx="502920" cy="50292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941064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3803904"/>
            <a:ext cx="10287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3913632"/>
            <a:ext cx="9875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1F3A"/>
                </a:solidFill>
                <a:latin typeface="Calibri"/>
              </a:rPr>
              <a:t>Show the math    —    Debits by month + MoM chart; expand SQL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594360" y="4626864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690872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4553712"/>
            <a:ext cx="10287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4663440"/>
            <a:ext cx="9875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1F3A"/>
                </a:solidFill>
                <a:latin typeface="Calibri"/>
              </a:rPr>
              <a:t>Exceptions    —    Unreconciled (UTR NULL) or anomaly callouts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" y="5376672"/>
            <a:ext cx="502920" cy="50292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440680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5880" y="5303520"/>
            <a:ext cx="102870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5413248"/>
            <a:ext cx="9875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1F3A"/>
                </a:solidFill>
                <a:latin typeface="Calibri"/>
              </a:rPr>
              <a:t>Feedback    —    Thumbs-down regenerates with an alternate SQL path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DC9F5"/>
                </a:solidFill>
                <a:latin typeface="Calibri"/>
              </a:rPr>
              <a:t>TBX Insight  ·  Corporate Banking Infrastructure for a Connected Financial Ecosystem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620256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08  / 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Sample Q&amp;A — Balances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Grounded in account.available_balance for bank_code = HDFC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623560" cy="2011680"/>
          </a:xfrm>
          <a:prstGeom prst="roundRect">
            <a:avLst>
              <a:gd name="adj" fmla="val 8000"/>
            </a:avLst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51206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QUESTION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What's the balance for HDFC accounts?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List each HDFC account (masked last-4) with balance; clarify if a single last-4 was intended.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5349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484632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SAMPLE ANSWER (SEED)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XXXX9069  →  ₹ -2,59,07,487.00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XXXX4137  →  ₹ -9,47,66,029.00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XXXX3445  →  ₹ -13,16,29,423.33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Combined ≈ ₹ -25.22 Cr  ·  negative = ledger / overdraft style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94760"/>
            <a:ext cx="111556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" y="3904488"/>
            <a:ext cx="10936224" cy="211226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＋  Add screenshot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Chat UI — HDFC balance question, answer, and evidence dropdown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Insert → Pictures  ·  replace this frame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DC9F5"/>
                </a:solidFill>
                <a:latin typeface="Calibri"/>
              </a:rPr>
              <a:t>TBX Insight  ·  Corporate Banking Infrastructure for a Connected Financial Ecosystem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20256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09  / 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Sample Q&amp;A — Reference 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Search transaction_reference_id (plaintext)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51206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QUESTION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Find transaction with ref</a:t>
            </a:r>
            <a:br/>
            <a:r>
              <a:rPr sz="1600" b="1" i="0">
                <a:solidFill>
                  <a:srgbClr val="0B1F3A"/>
                </a:solidFill>
                <a:latin typeface="Calibri"/>
              </a:rPr>
              <a:t>HDFCH01078329532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Tool: run_sql_query on "transaction"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48463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0AEEF"/>
                </a:solidFill>
                <a:latin typeface="Calibri"/>
              </a:rPr>
              <a:t>SAMPLE ANSWER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1 debit · 24 Jun 2026 · ₹7,959.00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Narration: NEFT … UMANG SELECTION…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UTR on file (masked in the reply)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49039"/>
            <a:ext cx="11155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" y="3858767"/>
            <a:ext cx="10936224" cy="215798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＋  Add screenshot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Chat UI — reference hit with View evidence &amp; SQL expanded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Insert → Pictures  ·  replace this frame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DC9F5"/>
                </a:solidFill>
                <a:latin typeface="Calibri"/>
              </a:rPr>
              <a:t>TBX Insight  ·  Corporate Banking Infrastructure for a Connected Financial Ecosystem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20256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  / 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Sample Q&amp;A — Exceptions &amp; spend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Unreconciled ≈ UTR IS NULL  ·  MoM via SQL LAG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6235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51206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B1F3A"/>
                </a:solidFill>
                <a:latin typeface="Calibri"/>
              </a:rPr>
              <a:t>Q  ·  Which transactions are still unreconciled?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Rows with utr_number IS NULL — e.g. Paresh NEFT ₹9,241, Gautam IMPS ₹110, inbound credit ₹36,810. State clearly if no formal reconcile flag exists.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5349240" cy="20116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484632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0AEEF"/>
                </a:solidFill>
                <a:latin typeface="Calibri"/>
              </a:rPr>
              <a:t>Q  ·  Debits by month with MoM change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CBD5E1"/>
                </a:solidFill>
                <a:latin typeface="Calibri"/>
              </a:rPr>
              <a:t>Monthly debit totals + MoM % from SQL; chart in UI; anomalies when spend ≫ median.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Seed debit spend ≈ ₹2,49,806.00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9476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" y="3904488"/>
            <a:ext cx="5266944" cy="211226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＋  Add screenshot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Screenshot — unreconciled answer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Insert → Pictures  ·  replace this frame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9476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81928" y="3904488"/>
            <a:ext cx="5266944" cy="211226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＋  Add screenshot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Screenshot — MoM chart + evidence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Insert → Pictures  ·  replace this frame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DC9F5"/>
                </a:solidFill>
                <a:latin typeface="Calibri"/>
              </a:rPr>
              <a:t>TBX Insight  ·  Corporate Banking Infrastructure for a Connected Financial 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620256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  /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Dashboard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Paste your live TBX Finance workspace screenshot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111556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" y="1664208"/>
            <a:ext cx="10936224" cy="43525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＋  Add screenshot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Full dashboard — metrics · spend by bank · top payees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Insert → Pictures  ·  replace this frame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DC9F5"/>
                </a:solidFill>
                <a:latin typeface="Calibri"/>
              </a:rPr>
              <a:t>TBX Insight  ·  Corporate Banking Infrastructure for a Connected Financial 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20256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  / 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D9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TBX Insight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Empty state and an active grounded conversation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" y="1664208"/>
            <a:ext cx="5266944" cy="43525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＋  Add screenshot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Empty state — hero + suggestions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Insert → Pictures  ·  replace this frame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664208"/>
            <a:ext cx="5266944" cy="435254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＋  Add screenshot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Active chat — answer · chips · evidence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Insert → Pictures  ·  replace this frame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620256"/>
            <a:ext cx="8229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DC9F5"/>
                </a:solidFill>
                <a:latin typeface="Calibri"/>
              </a:rPr>
              <a:t>TBX Insight  ·  Corporate Banking Infrastructure for a Connected Financial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20256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  /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3200400" cy="3200400"/>
          </a:xfrm>
          <a:prstGeom prst="ellipse">
            <a:avLst/>
          </a:prstGeom>
          <a:solidFill>
            <a:srgbClr val="0D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EEF"/>
                </a:solidFill>
                <a:latin typeface="Calibri"/>
              </a:rPr>
              <a:t>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24128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Seconds to a trustworthy answer.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CBD5E1"/>
                </a:solidFill>
                <a:latin typeface="Calibri"/>
              </a:rPr>
              <a:t>Every figure is query-backed and exportable.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BD5E1"/>
                </a:solidFill>
                <a:latin typeface="Calibri"/>
              </a:rPr>
              <a:t>Small model + strong tools = efficient and accurate.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AEEF"/>
                </a:solidFill>
                <a:latin typeface="Calibri"/>
              </a:rPr>
              <a:t>TBX Insight  ·  TBX Finance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