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ontserrat"/>
              </a:rPr>
              <a:t>TBX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0AEEF"/>
                </a:solidFill>
                <a:latin typeface="Montserrat"/>
              </a:rPr>
              <a:t>A grounded finance assistant that answers</a:t>
            </a:r>
            <a:br/>
            <a:r>
              <a:t>from your ledger — never from guesses.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ontserrat"/>
              </a:rPr>
              <a:t>TBX Finance  ·  BVP Tech Catalyst Hackathon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CBD5E1"/>
                </a:solidFill>
                <a:latin typeface="Montserrat"/>
              </a:rPr>
              <a:t>Problem: Build a Finance Assistant That Actually Understands You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Montserrat"/>
              </a:rPr>
              <a:t>Stack: React · FastAPI · PostgreSQL · Google Gemini (Flash / Flash-Lite)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What we will cover in this demo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ontserrat"/>
              </a:rPr>
              <a:t>01    The problem — why finance chatbots fail without grounding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057400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ontserrat"/>
              </a:rPr>
              <a:t>02    Our approach — tools, SQL, evidence, and guardrails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97480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0B1F3A"/>
                </a:solidFill>
                <a:latin typeface="Montserrat"/>
              </a:rPr>
              <a:t>03    Architecture — end-to-end system diagram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337559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0B1F3A"/>
                </a:solidFill>
                <a:latin typeface="Montserrat"/>
              </a:rPr>
              <a:t>04    Model choice — lowest possible model, highest possible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977639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0B1F3A"/>
                </a:solidFill>
                <a:latin typeface="Montserrat"/>
              </a:rPr>
              <a:t>05    Demo flow — how a question becomes a verified answer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617720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0B1F3A"/>
                </a:solidFill>
                <a:latin typeface="Montserrat"/>
              </a:rPr>
              <a:t>06    Sample Q&amp;A — grounded answers + screenshot slots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257799"/>
            <a:ext cx="10881360" cy="530352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0">
                <a:solidFill>
                  <a:srgbClr val="0B1F3A"/>
                </a:solidFill>
                <a:latin typeface="Montserrat"/>
              </a:rPr>
              <a:t>07    Impact &amp; 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Finance teams drown in lookup work — and invented numbers are a liability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Today’s pain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• Dashboards &amp; exports for routine questions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• “What did we pay vendor X last month?” means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   hunting reports or pinging finance ops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• Same lookups, repeated — high-value work slips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Why this is harder than a normal chatbot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A wrong or invented figure is not a UX bug —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0AEEF"/>
                </a:solidFill>
                <a:latin typeface="Montserrat"/>
              </a:rPr>
              <a:t>it undermines reconciliation, audits, and trust.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17320"/>
            <a:ext cx="5394960" cy="4663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0AEEF"/>
                </a:solidFill>
                <a:latin typeface="Montserrat"/>
              </a:rPr>
              <a:t>Challenge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Build a conversational assistant that: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✓ Accepts plain-language finance questions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✓ Answers only from real ledger data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✓ Shows evidence users can verify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✓ Says “I don’t know” when data is missing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✓ Uses the smallest model that still works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Scored heavily on Accuracy &amp; Grounding (30%)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and Model Efficiency (20%).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Our Approach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Compute in SQL · Explain in language · Never invent figures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01  Grounded retrieval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Every fact comes from PostgreSQL via read-only SELECT / WITH tools — not model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59" y="1417320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02  Compute, then narrate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Filters, joins, MoM %, anomalies run in SQL. The LLM explains results — it does not recalculate.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39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03  Verifiable answers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Plain-language reply + evidence table + SQL (collapsible) + CSV/Excel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59" y="3749039"/>
            <a:ext cx="5532120" cy="2103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04  Guardrails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Ambiguous account → clarification chips. Missing data → insufficient_data. Thumbs-down → retry different SQL.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TBX Insight — grounded tool-calling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54480"/>
            <a:ext cx="228600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User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TBX Insight UI</a:t>
            </a:r>
            <a:br/>
            <a:r>
              <a:rPr sz="1200" b="0">
                <a:solidFill>
                  <a:srgbClr val="FFFFFF"/>
                </a:solidFill>
                <a:latin typeface="Montserrat"/>
              </a:rPr>
              <a:t>React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7520" y="1554480"/>
            <a:ext cx="246888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API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FastAPI</a:t>
            </a:r>
            <a:br/>
            <a:r>
              <a:rPr sz="1200" b="0">
                <a:solidFill>
                  <a:srgbClr val="FFFFFF"/>
                </a:solidFill>
                <a:latin typeface="Montserrat"/>
              </a:rPr>
              <a:t>/chat · /api · /export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554480"/>
            <a:ext cx="274320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Agent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Gemini tool loop</a:t>
            </a:r>
            <a:br/>
            <a:r>
              <a:rPr sz="1200" b="0">
                <a:solidFill>
                  <a:srgbClr val="FFFFFF"/>
                </a:solidFill>
                <a:latin typeface="Montserrat"/>
              </a:rPr>
              <a:t>+ session memory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0" y="155448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Data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Montserrat"/>
              </a:rPr>
              <a:t>PostgreSQL</a:t>
            </a:r>
            <a:br/>
            <a:r>
              <a:rPr sz="1200" b="0">
                <a:solidFill>
                  <a:srgbClr val="FFFFFF"/>
                </a:solidFill>
                <a:latin typeface="Montserrat"/>
              </a:rPr>
              <a:t>bank · account · txn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965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AEEF"/>
                </a:solidFill>
                <a:latin typeface="Montserrat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65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AEEF"/>
                </a:solidFill>
                <a:latin typeface="Montserrat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659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00AEEF"/>
                </a:solidFill>
                <a:latin typeface="Montserrat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306324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Tool belt (agent actions)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read_database_guide  ·  list_tables  ·  run_sql_query  ·  find_accounts  ·  analyze_debit_trends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ontserrat"/>
              </a:rPr>
              <a:t>Guardrails: read-only SQL · mask account # / UTR · quote "transaction" · no invented banks or balances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663440"/>
            <a:ext cx="11338560" cy="1417320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Response contract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answer (markdown)  +  evidence {columns, rows, sql}  +  confidence  +  status  +  choices / insights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UX: clarification chips · MoM / anomaly callouts · collapsible evidence · thumbs-up/down retry · export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Architecture — Request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From natural language to verified ledger answer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1. Ask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User sends NL question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+ optimize_for 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2. Ambiguity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Multi-account bank/last4?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→ clarification chips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3. Plan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LLM picks tools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using schema guide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4. Query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Read-only SQL on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Postgres finance DB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5. Verify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Rows → evidence table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SQL retained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95560" y="1554480"/>
            <a:ext cx="182880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6. Answer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334155"/>
                </a:solidFill>
                <a:latin typeface="Montserrat"/>
              </a:rPr>
              <a:t>Narrate only from</a:t>
            </a:r>
            <a:br/>
            <a:r>
              <a:rPr sz="1100" b="0">
                <a:solidFill>
                  <a:srgbClr val="334155"/>
                </a:solidFill>
                <a:latin typeface="Montserrat"/>
              </a:rPr>
              <a:t>rows; flag gaps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023360"/>
            <a:ext cx="11338560" cy="20116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Data model (scoped)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FFFFFF"/>
                </a:solidFill>
                <a:latin typeface="Montserrat"/>
              </a:rPr>
              <a:t>bank (1)  ——&lt;  account (many)  ——&lt;  "transaction" (many)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CBD5E1"/>
                </a:solidFill>
                <a:latin typeface="Montserrat"/>
              </a:rPr>
              <a:t>Seed: 10 banks · 10 accounts · 10 transactions  |  Currency: single-company INR ledger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94A3B8"/>
                </a:solidFill>
                <a:latin typeface="Montserrat"/>
              </a:rPr>
              <a:t>Hosting: React UI → FastAPI → Gemini API → PostgreSQL 18 on EC2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Model Choice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Constraint: lowest possible model, highest possible accuracy (≤20B)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577840" cy="4663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0B1F3A"/>
                </a:solidFill>
                <a:latin typeface="Montserrat"/>
              </a:rPr>
              <a:t>What we chose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Primary: Gemini 3.5 Flash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Balanced / Precision modes — strong tool use,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schema following, and multi-turn coherence.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0AEEF"/>
                </a:solidFill>
                <a:latin typeface="Montserrat"/>
              </a:rPr>
              <a:t>Efficiency: Gemini 3.5 Flash-Lite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Cost / Efficient mode — same tool loop,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lower latency &amp; token cost for routine lookups.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Why not a frontier giant?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Judged on efficiency. Accuracy comes from SQL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grounding — not from a larger parametric brain.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17320"/>
            <a:ext cx="5303520" cy="4663440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ontserrat"/>
              </a:rPr>
              <a:t>How we keep a small model accurate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1. Schema + LLM_TOOL_GUIDE injected as tools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2. Hard rules: never invent; mask PII; read-only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3. Aggregations in SQL (MoM via LAG, anomalies)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4. Synthesis pass if tool budget exhausts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5. User feedback → regenerate with new SQL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ontserrat"/>
              </a:rPr>
              <a:t>Optimize_for modes in UI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Efficient → flash-lite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Balanced / Precision → flash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Result: lightweight NL layer + heavy lifting in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Demo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Suggested live walkthrough (5–7 minutes)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25880" y="137160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Open Dashboard  —  Show debit/credit totals, spend-by-bank, top payees — workspace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25880" y="214884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Ask a balance question  —  “What's the balance for HDFC accounts?” → clarification or summed balances +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92608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292608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Lookup by reference  —  “Find transaction with ref HDFCH01078329532” → exact row, amount, narration.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70332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25880" y="370332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Show the math  —  Debits by month with MoM + chart; expand Evidence &amp; SQL.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48056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25880" y="448056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Anomaly / unreconciled  —  Flag spend spikes or NULL UTR rows; export CSV.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25780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00AEEF"/>
                </a:solidFill>
                <a:latin typeface="Montserrat"/>
              </a:rPr>
              <a:t>F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25880" y="5257800"/>
            <a:ext cx="10241280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Feedback loop  —  Thumbs-down regenerates with alternate SQL path.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Sample Q&amp;A — Balances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Grounded in account.available_balance for bank_code = HDFC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669280" cy="2194560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Question</a:t>
            </a:r>
          </a:p>
          <a:p>
            <a:pPr>
              <a:spcAft>
                <a:spcPts val="400"/>
              </a:spcAft>
            </a:pPr>
            <a:r>
              <a:rPr sz="1500" b="1">
                <a:solidFill>
                  <a:srgbClr val="0B1F3A"/>
                </a:solidFill>
                <a:latin typeface="Montserrat"/>
              </a:rPr>
              <a:t>What's the balance for HDFC accounts?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64748B"/>
                </a:solidFill>
                <a:latin typeface="Montserrat"/>
              </a:rPr>
              <a:t>Expected assistant behavior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List each HDFC account (masked last-4) with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available_balance; optionally sum. Offer chips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if user meant a single last-4.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30352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Sample answer (from seed data)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HDFC has 3 accounts, e.g.: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ontserrat"/>
              </a:rPr>
              <a:t>XXXX9069 → ₹ -2,59,07,487.00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ontserrat"/>
              </a:rPr>
              <a:t>XXXX4137 → ₹ -9,47,66,029.00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ontserrat"/>
              </a:rPr>
              <a:t>XXXX3445 → ₹ -13,16,29,423.33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B1F3A"/>
                </a:solidFill>
                <a:latin typeface="Montserrat"/>
              </a:rPr>
              <a:t>Combined ≈ ₹ -25,22,03,039.33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64748B"/>
                </a:solidFill>
                <a:latin typeface="Montserrat"/>
              </a:rPr>
              <a:t>(negative = overdraft / ledger style)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49039"/>
            <a:ext cx="11155680" cy="237744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Chat UI: HDFC balance question + answer + evidence dropdown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Sample Q&amp;A — Reference Lookup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Search transaction_reference_id (plaintext)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669280" cy="2148840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Question</a:t>
            </a:r>
          </a:p>
          <a:p>
            <a:pPr>
              <a:spcAft>
                <a:spcPts val="400"/>
              </a:spcAft>
            </a:pPr>
            <a:r>
              <a:rPr sz="1400" b="1">
                <a:solidFill>
                  <a:srgbClr val="0B1F3A"/>
                </a:solidFill>
                <a:latin typeface="Montserrat"/>
              </a:rPr>
              <a:t>Find transaction with ref HDFCH01078329532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Tool path: run_sql_query on "transaction"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WHERE transaction_reference_id = 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30352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Sample answer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ontserrat"/>
              </a:rPr>
              <a:t>Found 1 debit on 24 Jun 2026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334155"/>
                </a:solidFill>
                <a:latin typeface="Montserrat"/>
              </a:rPr>
              <a:t>Amount: ₹7,959.00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Narration: NEFT … UMANG SELECTION…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Account linked; UTR on file (masked).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1155680" cy="242316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Chat UI: reference lookup result + View evidence &amp; SQL expanded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Sample Q&amp;A — Reconciliation &amp; Spend Math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Unreconciled = UTR NULL · MoM via SQL LAG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5669280" cy="2286000"/>
          </a:xfrm>
          <a:prstGeom prst="roundRect">
            <a:avLst>
              <a:gd name="adj" fmla="val 8000"/>
            </a:avLst>
          </a:prstGeom>
          <a:solidFill>
            <a:srgbClr val="E6F7FD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ontserrat"/>
              </a:rPr>
              <a:t>Q: Which transactions are still unreconciled?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A: Rows with utr_number IS NULL — e.g. NEFT to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Paresh Vikrant Ghase (₹9,241), IMPS Gautam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Singh (₹110), and the inbound credit IMPS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SELECTIONMALIGAI (₹36,810). State clearly if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ontserrat"/>
              </a:rPr>
              <a:t>the dataset has no formal reconcile flag.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371600"/>
            <a:ext cx="530352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B1F3A"/>
                </a:solidFill>
                <a:latin typeface="Montserrat"/>
              </a:rPr>
              <a:t>Q: Show me the math — debits by month + MoM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A: Monthly debit totals with MoM % from SQL;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chart in UI; anomaly months flagged when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334155"/>
                </a:solidFill>
                <a:latin typeface="Montserrat"/>
              </a:rPr>
              <a:t>spend ≫ median. Expand evidence for SQL.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00AEEF"/>
                </a:solidFill>
                <a:latin typeface="Montserrat"/>
              </a:rPr>
              <a:t>Total seed debit spend ≈ ₹2,49,806.00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840480"/>
            <a:ext cx="54864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Screenshot: unreconciled answer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486400" cy="228600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Screenshot: MoM chart + evidence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Product Surface —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TBX Finance workspace overview (paste live 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1115568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Full-width Dashboard: metrics · spend by bank · top payees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73152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"/>
            <a:ext cx="9601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ontserrat"/>
              </a:rPr>
              <a:t>Product Surface — TBX Insight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1430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Montserrat"/>
              </a:rPr>
              <a:t>Empty state + conversation (paste live UI)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417320"/>
            <a:ext cx="548640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Empty state: TBX Insight hero + suggestions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17320"/>
            <a:ext cx="5486400" cy="475488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00AE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1F3A"/>
                </a:solidFill>
                <a:latin typeface="Montserrat"/>
              </a:rPr>
              <a:t>📷  SCREENSHOT PLACEHOLDER</a:t>
            </a:r>
          </a:p>
          <a:p>
            <a:pPr algn="ctr"/>
            <a:r>
              <a:rPr sz="1100" b="0">
                <a:solidFill>
                  <a:srgbClr val="64748B"/>
                </a:solidFill>
                <a:latin typeface="Montserrat"/>
              </a:rPr>
              <a:t>Active chat: answer · chips · evidence toggle</a:t>
            </a:r>
          </a:p>
          <a:p>
            <a:pPr algn="ctr"/>
            <a:r>
              <a:rPr sz="1000" b="0">
                <a:solidFill>
                  <a:srgbClr val="64748B"/>
                </a:solidFill>
                <a:latin typeface="Montserrat"/>
              </a:rPr>
              <a:t>(Insert image → crop to fit)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3796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Montserrat"/>
              </a:rPr>
              <a:t>TBX Insight  ·  TBX Finance  ·  BVP Tech Catalyst Hackathon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379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ontserrat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AE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AEEF"/>
                </a:solidFill>
                <a:latin typeface="Montserrat"/>
              </a:rPr>
              <a:t>Business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2412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Seconds to a trustworthy answer — no dashboard hunt.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Every number is query-backed and exportable for audit.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ontserrat"/>
              </a:rPr>
              <a:t>Small model + strong tools = efficient and accurate.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</a:pPr>
            <a:r>
              <a:rPr sz="3200" b="1">
                <a:solidFill>
                  <a:srgbClr val="FFFFFF"/>
                </a:solidFill>
                <a:latin typeface="Montserrat"/>
              </a:rPr>
              <a:t>Thank you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00AEEF"/>
                </a:solidFill>
                <a:latin typeface="Montserrat"/>
              </a:rPr>
              <a:t>TBX Insight  ·  TBX Finance  ·  Questions welcome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